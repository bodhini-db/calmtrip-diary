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bJkV7tNa1FCFoiimnpxQ32H77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E83BD01-8071-4E0C-93CE-B29663CBE088}">
  <a:tblStyle styleId="{BE83BD01-8071-4E0C-93CE-B29663CBE088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5" name="Google Shape;8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c756d1606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c756d1606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c756d1606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bc756d160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c756d1606_1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bc756d1606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subTitle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b="1" sz="2000">
                <a:solidFill>
                  <a:srgbClr val="17365D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14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7"/>
          <p:cNvSpPr txBox="1"/>
          <p:nvPr>
            <p:ph idx="2" type="body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7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7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/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" type="body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2" type="body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3" type="body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4" type="body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 txBox="1"/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9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C:\Users\AMMU\Desktop\Border.png" id="52" name="Google Shape;5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1"/>
          <p:cNvSpPr txBox="1"/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" type="body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21"/>
          <p:cNvSpPr txBox="1"/>
          <p:nvPr>
            <p:ph idx="2" type="body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21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1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2"/>
          <p:cNvSpPr txBox="1"/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22"/>
          <p:cNvSpPr txBox="1"/>
          <p:nvPr>
            <p:ph idx="1" type="body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22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" type="body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4"/>
          <p:cNvSpPr txBox="1"/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" type="body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b="1" i="0" sz="2800" u="none" cap="none" strike="noStrik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1" name="Google Shape;11;p13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cap="flat" cmpd="thickThin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" name="Google Shape;12;p13"/>
          <p:cNvPicPr preferRelativeResize="0"/>
          <p:nvPr/>
        </p:nvPicPr>
        <p:blipFill rotWithShape="1">
          <a:blip r:embed="rId1">
            <a:alphaModFix/>
          </a:blip>
          <a:srcRect b="18045" l="0" r="0" t="0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github.com/aneesaMA/CSE_178.gi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"/>
          <p:cNvSpPr txBox="1"/>
          <p:nvPr>
            <p:ph type="ctrTitle"/>
          </p:nvPr>
        </p:nvSpPr>
        <p:spPr>
          <a:xfrm>
            <a:off x="449901" y="1082350"/>
            <a:ext cx="11544600" cy="9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 sz="2100">
                <a:solidFill>
                  <a:srgbClr val="212529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DEVELOPMENT OF A TRAVEL RELATED SOFTWARE APP THAT CAN BE INSTALLED ON MOBILE PHONES THAT COULD CAPTURE TRIP RELATED INFORMATION</a:t>
            </a:r>
            <a:endParaRPr sz="3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Batch Number: CSE_178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6480195" y="2597640"/>
            <a:ext cx="55143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1800" u="none" cap="none" strike="noStrik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Supervision of,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Ms. Anu Joseph, Ms Fathima Shana</a:t>
            </a:r>
            <a:endParaRPr i="0" sz="1400" u="none" cap="none" strike="noStrik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School of Computer Science and Engineering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Presidency University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0" name="Google Shape;90;p1"/>
          <p:cNvGraphicFramePr/>
          <p:nvPr/>
        </p:nvGraphicFramePr>
        <p:xfrm>
          <a:off x="606797" y="2597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{BE83BD01-8071-4E0C-93CE-B29663CBE088}</a:tableStyleId>
              </a:tblPr>
              <a:tblGrid>
                <a:gridCol w="2085000"/>
                <a:gridCol w="3333675"/>
              </a:tblGrid>
              <a:tr h="332125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7365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Roll Number</a:t>
                      </a:r>
                      <a:endParaRPr b="1" sz="1800" u="none" cap="none" strike="noStrike">
                        <a:solidFill>
                          <a:srgbClr val="17365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7365D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Student Name</a:t>
                      </a:r>
                      <a:endParaRPr b="1" sz="1800" u="none" cap="none" strike="noStrike">
                        <a:solidFill>
                          <a:srgbClr val="17365D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20221CSE0652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ANEESA MA 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20221CSE0658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BHAVANA C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20221CSE0660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BODHINI DB</a:t>
                      </a:r>
                      <a:endParaRPr sz="18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1" name="Google Shape;91;p1"/>
          <p:cNvSpPr txBox="1"/>
          <p:nvPr/>
        </p:nvSpPr>
        <p:spPr>
          <a:xfrm>
            <a:off x="790475" y="136450"/>
            <a:ext cx="106914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7032- University Project</a:t>
            </a:r>
            <a:endParaRPr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Review-</a:t>
            </a:r>
            <a:r>
              <a:rPr b="1" lang="en-US" sz="1800">
                <a:solidFill>
                  <a:srgbClr val="17365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i="0" sz="1800" u="none" cap="none" strike="noStrike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05324" y="4533900"/>
            <a:ext cx="115446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Program: CSE 7032 - UNIVERSITY PROJECT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HoD: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Blessed Prince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Program Project Coordinator: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Muthuraju V</a:t>
            </a:r>
            <a:endParaRPr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School Project Coordinators: </a:t>
            </a:r>
            <a:r>
              <a:rPr b="1" i="0" lang="en-US" sz="1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Sampath A K</a:t>
            </a: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Content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655775" y="1090775"/>
            <a:ext cx="5578800" cy="47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Objectives of problem statement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Background and Related work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Proposed Method &amp; Feasibility Study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Innovation or Novel Contributions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Tech Stack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9144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709925" y="1005625"/>
            <a:ext cx="10770900" cy="50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590"/>
              <a:buFont typeface="Verdana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Problem Statement Number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:  </a:t>
            </a:r>
            <a:r>
              <a:rPr b="1" lang="en-US" sz="16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25082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Organization: </a:t>
            </a:r>
            <a:r>
              <a:rPr lang="en-US" sz="1600">
                <a:solidFill>
                  <a:srgbClr val="21252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KSCSTE-NATIONAL TRANSPORTATION PLANNING AND RESEARCH CENTRE (NATPAC)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220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Category     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: Software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Traditional travel surveys fail to capture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complete trip chains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dynamic travel patterns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and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multi-modal journeys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effectively.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objective of this project is to develop a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travel-related mobile application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that can be installed on smartphones to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capture trip-related information automatically and semi-automatically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With explicit user consent, the application will: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Detect trips using GPS and time-based sensing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Automatically capture origin, destination, and travel duration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Prompt (nudge) users to fill in contextual details such as trip purpose and mode of transport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application will automatically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track user journeys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using Google location services and allow users to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enrich their trips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with checkpoints, photos, and personal notes—creating a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diary-like travel experience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 All collected data will be securely stored and managed using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Supabase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making it accessible for both users and authorized NATPAC researchers.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just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22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Objectives of Problem Statement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762000" y="1312450"/>
            <a:ext cx="10668000" cy="26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Automatically detect trips using GPS and temporal data.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Capture origin, destination, travel duration, and route details.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Prompt users to provide contextual trip details, including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mode of transport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Allow users to enrich trips with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photos, checkpoints, and personal notes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Store data securely using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Supabase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ensuring both user privacy and accessibility for authorized researchers.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mes New Roman"/>
              <a:buAutoNum type="arabicPeriod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Provide a diary-like travel experience for users while enabling research on travel behavior patterns.</a:t>
            </a:r>
            <a:b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and Related Works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5"/>
          <p:cNvSpPr txBox="1"/>
          <p:nvPr>
            <p:ph idx="1" type="body"/>
          </p:nvPr>
        </p:nvSpPr>
        <p:spPr>
          <a:xfrm>
            <a:off x="502000" y="1143000"/>
            <a:ext cx="11690100" cy="537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Background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Traditional travel surveys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→ Capture trips manually but often incomplete and inaccurate.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Paper-based transport studies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→ Cannot record multimedia or real-time location.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Smartphone GPS tracking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→ Enables automatic and semi-automatic trip data collection.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Related Works</a:t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Google Trips &amp; TripIt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→ Good for itineraries, lack research context.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Digital diary apps (MyTriplan, MoBiT)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→ Manual logging, limited automation.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[1] Vansteenwegen et al. (2011)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[3] Gavalas et al. (2014)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discuss route optimization and tourist trip design problems, focusing on algorithms and heuristics for planning efficient, time-constrained travel itineraries.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-US" sz="1600">
                <a:latin typeface="Times New Roman"/>
                <a:ea typeface="Times New Roman"/>
                <a:cs typeface="Times New Roman"/>
                <a:sym typeface="Times New Roman"/>
              </a:rPr>
              <a:t>[2] Ricci et al. (2015)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explains recommender system techniques such as collaborative and content-based filtering, which support personalized travel recommendations based on user data.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240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8243000" y="959550"/>
            <a:ext cx="4537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Method &amp; Feasibility Study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6"/>
          <p:cNvSpPr txBox="1"/>
          <p:nvPr>
            <p:ph idx="1" type="body"/>
          </p:nvPr>
        </p:nvSpPr>
        <p:spPr>
          <a:xfrm>
            <a:off x="502000" y="1143000"/>
            <a:ext cx="7596000" cy="30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0200" lvl="0" marL="457200" rtl="0" algn="l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Develop a mobile travel app integrating Google Maps and Google Location APIs to automatically track trips (origin, destination, route, distance, time).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Enable users to enrich journeys with checkpoints, photos, and notes, creating a diary-style travel log.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Use Supabase for secure authentication, real-time database management, and cloud storage.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spcBef>
                <a:spcPts val="480"/>
              </a:spcBef>
              <a:spcAft>
                <a:spcPts val="0"/>
              </a:spcAft>
              <a:buSzPts val="1600"/>
              <a:buFont typeface="Times New Roman"/>
              <a:buChar char="•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Implement an AI module to analyze historical travel data, generate personalized insights, and provide future trip recommendations.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9025" y="1234700"/>
            <a:ext cx="4175900" cy="4446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0B539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 Diagram</a:t>
            </a:r>
            <a:endParaRPr>
              <a:solidFill>
                <a:srgbClr val="0B539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7"/>
          <p:cNvSpPr txBox="1"/>
          <p:nvPr>
            <p:ph idx="1" type="body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31" name="Google Shape;13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050" y="981075"/>
            <a:ext cx="10411500" cy="5276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651075" y="29261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just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Innovation or Novel Contributions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8"/>
          <p:cNvSpPr txBox="1"/>
          <p:nvPr>
            <p:ph idx="1" type="body"/>
          </p:nvPr>
        </p:nvSpPr>
        <p:spPr>
          <a:xfrm>
            <a:off x="651075" y="1296425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8" name="Google Shape;138;p8"/>
          <p:cNvSpPr txBox="1"/>
          <p:nvPr/>
        </p:nvSpPr>
        <p:spPr>
          <a:xfrm>
            <a:off x="811575" y="1397250"/>
            <a:ext cx="106680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Trip Capture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Automatically logs trips using GPS and time sensing.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Multimedia Enrichment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Adds photos, notes, and checkpoints for each journey.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 Map Visualization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Highlights routes and visited regions dynamically,and total distance traveled.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Cloud-Enabled Research Access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Securely shares anonymized travel data with researchers.</a:t>
            </a:r>
            <a:b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Feedback &amp; Insights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→ Enables comments, ratings, and peer reviews on trip checkpoints.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●"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trip recommendation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→ helps with generating the next possible trip plans using transformer models based on user history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Tech stack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9"/>
          <p:cNvSpPr txBox="1"/>
          <p:nvPr>
            <p:ph idx="1" type="body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524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9"/>
          <p:cNvPicPr preferRelativeResize="0"/>
          <p:nvPr/>
        </p:nvPicPr>
        <p:blipFill rotWithShape="1">
          <a:blip r:embed="rId3">
            <a:alphaModFix/>
          </a:blip>
          <a:srcRect b="5587" l="3242" r="8419" t="4871"/>
          <a:stretch/>
        </p:blipFill>
        <p:spPr>
          <a:xfrm>
            <a:off x="1216625" y="994625"/>
            <a:ext cx="9043276" cy="5669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0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10"/>
          <p:cNvSpPr txBox="1"/>
          <p:nvPr>
            <p:ph idx="1" type="body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0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0"/>
          <p:cNvSpPr txBox="1"/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Github link has public access permission.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https://github.com/aneesaMA/CSE_178.git</a:t>
            </a:r>
            <a:r>
              <a:rPr b="0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90500" lvl="0" marL="3429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c756d1606_1_0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Wireframes</a:t>
            </a:r>
            <a:endParaRPr b="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g3bc756d1606_1_0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g3bc756d1606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75" y="800100"/>
            <a:ext cx="10534650" cy="52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c756d1606_1_6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Screenshots of 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Calm Trip</a:t>
            </a: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g3bc756d1606_1_6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67" name="Google Shape;167;g3bc756d1606_1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275" y="1055025"/>
            <a:ext cx="2159575" cy="4807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g3bc756d1606_1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6851" y="1055025"/>
            <a:ext cx="2224986" cy="49530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g3bc756d1606_1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958024" y="1143000"/>
            <a:ext cx="2351450" cy="523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c756d1606_1_14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52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Screenshots of Calm Trip:</a:t>
            </a:r>
            <a:endParaRPr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g3bc756d1606_1_14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rPr lang="en-US"/>
              <a:t> </a:t>
            </a:r>
            <a:endParaRPr/>
          </a:p>
        </p:txBody>
      </p:sp>
      <p:pic>
        <p:nvPicPr>
          <p:cNvPr id="176" name="Google Shape;176;g3bc756d1606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93500" y="1264763"/>
            <a:ext cx="2387299" cy="5314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bc756d1606_1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2800" y="1136513"/>
            <a:ext cx="2387300" cy="5327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bc756d1606_1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22025" y="1143000"/>
            <a:ext cx="2490600" cy="5557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g3bc756d1606_1_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7762" y="1143027"/>
            <a:ext cx="2490600" cy="5557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References 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11"/>
          <p:cNvSpPr txBox="1"/>
          <p:nvPr>
            <p:ph idx="1" type="body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[1] P. Vansteenwegen, W. Souffriau, and D. Van Oudheusden, “The orienteering problem: A survey,” 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European Journal of Operational Research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vol. 209, no. 1, pp. 1–10, 2011.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[2] F. Ricci, L. Rokach, and B. Shapira, 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Recommender Systems Handbook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. Cham, Switzerland: Springer, 2015.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[3] D. Gavalas, C. Konstantopoulos, K. Mastakas, and G. Pantziou, “A survey on algorithmic approaches for solving tourist trip design problems,” 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Journal of Heuristics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vol. 20, no. 3, pp. 291–328, 2014.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[4] O. D. Lara and M. A. Labrador, “A survey on human activity recognition using wearable sensors,” 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IEEE Communications Surveys &amp; Tutorials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vol. 15, no. 3, pp. 1192–1209, 2013.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[5] Y. Zheng, “Trajectory data mining: An overview,” </a:t>
            </a:r>
            <a:r>
              <a:rPr i="1" lang="en-US" sz="1600">
                <a:latin typeface="Times New Roman"/>
                <a:ea typeface="Times New Roman"/>
                <a:cs typeface="Times New Roman"/>
                <a:sym typeface="Times New Roman"/>
              </a:rPr>
              <a:t>ACM Transactions on Intelligent Systems and Technology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, vol. 6, no. 3, pp. 1–41, 2015.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2811" y="1441315"/>
            <a:ext cx="3893305" cy="3935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